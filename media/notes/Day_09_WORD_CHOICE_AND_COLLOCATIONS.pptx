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8A7F0-C04E-7F15-B11F-3ED14DC639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WORD CHOICE AND COLLOCATIONS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E18290-2C6F-99E1-7C57-3D5A4A3FF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9132536" cy="1874985"/>
          </a:xfrm>
        </p:spPr>
        <p:txBody>
          <a:bodyPr>
            <a:normAutofit/>
          </a:bodyPr>
          <a:lstStyle/>
          <a:p>
            <a:r>
              <a:rPr lang="en-IN" b="1" dirty="0"/>
              <a:t>Professional Communication for Placements, Interviews and Workplace Success</a:t>
            </a:r>
          </a:p>
          <a:p>
            <a:r>
              <a:rPr lang="en-IN" b="1" dirty="0"/>
              <a:t>Department of Computer Science Engineering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3308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EA80D-894A-C7F9-9F9F-F4FF619C4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&amp; LEARNING OUTCOMES</a:t>
            </a:r>
            <a:br>
              <a:rPr lang="en-IN" dirty="0"/>
            </a:br>
            <a:r>
              <a:rPr lang="en-IN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AC77E-21E5-0C42-A3DE-69C434422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By the end of this session, students will be able to:</a:t>
            </a:r>
          </a:p>
          <a:p>
            <a:r>
              <a:rPr lang="en-IN" dirty="0"/>
              <a:t>• Understand the importance of word choice in professional communication.</a:t>
            </a:r>
          </a:p>
          <a:p>
            <a:r>
              <a:rPr lang="en-IN" dirty="0"/>
              <a:t>• Identify and use common collocations correctly.</a:t>
            </a:r>
          </a:p>
          <a:p>
            <a:r>
              <a:rPr lang="en-IN" dirty="0"/>
              <a:t>• Avoid common vocabulary and collocation errors.</a:t>
            </a:r>
          </a:p>
          <a:p>
            <a:r>
              <a:rPr lang="en-IN" dirty="0"/>
              <a:t>• Improve communication skills for placements and interviews.</a:t>
            </a:r>
          </a:p>
          <a:p>
            <a:r>
              <a:rPr lang="en-IN" dirty="0"/>
              <a:t>• Enhance verbal ability required for AMCAT and employability tests.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7987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1242E-2D00-AACF-22E7-286F2E707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Learning Outcomes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17965-B297-6CB7-22BD-ACD5B580C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Students will be able to:</a:t>
            </a:r>
          </a:p>
          <a:p>
            <a:r>
              <a:rPr lang="en-IN" dirty="0"/>
              <a:t>✓ Use appropriate vocabulary according to context.</a:t>
            </a:r>
          </a:p>
          <a:p>
            <a:r>
              <a:rPr lang="en-IN" dirty="0"/>
              <a:t>✓ Apply workplace and academic collocations accurately.</a:t>
            </a:r>
          </a:p>
          <a:p>
            <a:r>
              <a:rPr lang="en-IN" dirty="0"/>
              <a:t>✓ Improve professional speaking and writing skills.</a:t>
            </a:r>
          </a:p>
          <a:p>
            <a:r>
              <a:rPr lang="en-IN" dirty="0"/>
              <a:t>✓ Answer collocation-based AMCAT questions confidently.</a:t>
            </a:r>
          </a:p>
          <a:p>
            <a:r>
              <a:rPr lang="en-IN" dirty="0"/>
              <a:t>✓ Communicate more effectively during interviews and </a:t>
            </a:r>
            <a:r>
              <a:rPr lang="en-IN" dirty="0" err="1"/>
              <a:t>GDs.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284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61572-CBEA-F39F-6510-39082FC7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WORD CHOICE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41D82-28E8-6FF7-8697-692F70B80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What is Word Choice?</a:t>
            </a:r>
          </a:p>
          <a:p>
            <a:r>
              <a:rPr lang="en-IN" dirty="0"/>
              <a:t>Word choice refers to selecting the most suitable and effective word to express an idea.</a:t>
            </a:r>
          </a:p>
          <a:p>
            <a:r>
              <a:rPr lang="en-IN" dirty="0"/>
              <a:t>Appropriate word choice:</a:t>
            </a:r>
          </a:p>
          <a:p>
            <a:r>
              <a:rPr lang="en-IN" dirty="0"/>
              <a:t>• Improves clarity.</a:t>
            </a:r>
          </a:p>
          <a:p>
            <a:r>
              <a:rPr lang="en-IN" dirty="0"/>
              <a:t>• Creates professionalism.</a:t>
            </a:r>
          </a:p>
          <a:p>
            <a:r>
              <a:rPr lang="en-IN" dirty="0"/>
              <a:t>• Enhances communication effectiveness.</a:t>
            </a:r>
          </a:p>
          <a:p>
            <a:r>
              <a:rPr lang="en-IN" dirty="0"/>
              <a:t>• Builds confidence during interviews.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178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8F3C3-E9CD-25AA-71A5-399C3EEB8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13" y="1"/>
            <a:ext cx="9986441" cy="545431"/>
          </a:xfrm>
        </p:spPr>
        <p:txBody>
          <a:bodyPr/>
          <a:lstStyle/>
          <a:p>
            <a:r>
              <a:rPr lang="en-IN" dirty="0"/>
              <a:t>Examples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8EDD3F-031A-B723-D44C-9A0D604135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8810684"/>
              </p:ext>
            </p:extLst>
          </p:nvPr>
        </p:nvGraphicFramePr>
        <p:xfrm>
          <a:off x="1068413" y="545433"/>
          <a:ext cx="9986936" cy="376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3468">
                  <a:extLst>
                    <a:ext uri="{9D8B030D-6E8A-4147-A177-3AD203B41FA5}">
                      <a16:colId xmlns:a16="http://schemas.microsoft.com/office/drawing/2014/main" val="1225941053"/>
                    </a:ext>
                  </a:extLst>
                </a:gridCol>
                <a:gridCol w="4993468">
                  <a:extLst>
                    <a:ext uri="{9D8B030D-6E8A-4147-A177-3AD203B41FA5}">
                      <a16:colId xmlns:a16="http://schemas.microsoft.com/office/drawing/2014/main" val="965785129"/>
                    </a:ext>
                  </a:extLst>
                </a:gridCol>
              </a:tblGrid>
              <a:tr h="418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Informal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Professional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0707782"/>
                  </a:ext>
                </a:extLst>
              </a:tr>
              <a:tr h="418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Obtain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661629"/>
                  </a:ext>
                </a:extLst>
              </a:tr>
              <a:tr h="418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Help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Assist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464659"/>
                  </a:ext>
                </a:extLst>
              </a:tr>
              <a:tr h="418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Effective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3423731"/>
                  </a:ext>
                </a:extLst>
              </a:tr>
              <a:tr h="418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Significant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26537"/>
                  </a:ext>
                </a:extLst>
              </a:tr>
              <a:tr h="418877">
                <a:tc>
                  <a:txBody>
                    <a:bodyPr/>
                    <a:lstStyle/>
                    <a:p>
                      <a:r>
                        <a:rPr lang="en-IN" dirty="0"/>
                        <a:t>Show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Demonstrate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671631"/>
                  </a:ext>
                </a:extLst>
              </a:tr>
              <a:tr h="418877">
                <a:tc>
                  <a:txBody>
                    <a:bodyPr/>
                    <a:lstStyle/>
                    <a:p>
                      <a:r>
                        <a:rPr lang="en-IN" dirty="0"/>
                        <a:t>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Resolve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39260"/>
                  </a:ext>
                </a:extLst>
              </a:tr>
              <a:tr h="418877">
                <a:tc>
                  <a:txBody>
                    <a:bodyPr/>
                    <a:lstStyle/>
                    <a:p>
                      <a:r>
                        <a:rPr lang="en-IN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Initiate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952644"/>
                  </a:ext>
                </a:extLst>
              </a:tr>
              <a:tr h="418877">
                <a:tc>
                  <a:txBody>
                    <a:bodyPr/>
                    <a:lstStyle/>
                    <a:p>
                      <a:r>
                        <a:rPr lang="en-IN" dirty="0"/>
                        <a:t>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Conclude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9179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5971FFF-399E-464E-5F57-E257F5FF1315}"/>
              </a:ext>
            </a:extLst>
          </p:cNvPr>
          <p:cNvSpPr txBox="1"/>
          <p:nvPr/>
        </p:nvSpPr>
        <p:spPr>
          <a:xfrm>
            <a:off x="1136651" y="4315326"/>
            <a:ext cx="99182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Placement Example</a:t>
            </a:r>
          </a:p>
          <a:p>
            <a:pPr>
              <a:buNone/>
            </a:pPr>
            <a:r>
              <a:rPr lang="en-IN" dirty="0"/>
              <a:t>Weak:</a:t>
            </a:r>
            <a:br>
              <a:rPr lang="en-IN" dirty="0"/>
            </a:br>
            <a:r>
              <a:rPr lang="en-IN" dirty="0"/>
              <a:t>"I got experience in coding."</a:t>
            </a:r>
          </a:p>
          <a:p>
            <a:pPr>
              <a:buNone/>
            </a:pPr>
            <a:r>
              <a:rPr lang="en-IN" dirty="0"/>
              <a:t>Professional:</a:t>
            </a:r>
            <a:br>
              <a:rPr lang="en-IN" dirty="0"/>
            </a:br>
            <a:r>
              <a:rPr lang="en-IN" dirty="0"/>
              <a:t>"I gained experience in software development."</a:t>
            </a:r>
          </a:p>
        </p:txBody>
      </p:sp>
    </p:spTree>
    <p:extLst>
      <p:ext uri="{BB962C8B-B14F-4D97-AF65-F5344CB8AC3E}">
        <p14:creationId xmlns:p14="http://schemas.microsoft.com/office/powerpoint/2010/main" val="1550338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324-ACEB-28A8-55EB-2AC2CC6E6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5" y="1029706"/>
            <a:ext cx="9803570" cy="824048"/>
          </a:xfrm>
        </p:spPr>
        <p:txBody>
          <a:bodyPr/>
          <a:lstStyle/>
          <a:p>
            <a:r>
              <a:rPr lang="en-IN" dirty="0"/>
              <a:t>COLLOCATIONS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20167-31C6-FB69-7AAD-2F0B94C4B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790" y="1853754"/>
            <a:ext cx="10583778" cy="1932183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What are Collocations?</a:t>
            </a:r>
          </a:p>
          <a:p>
            <a:r>
              <a:rPr lang="en-IN" dirty="0"/>
              <a:t>Collocations are words that naturally occur together.</a:t>
            </a:r>
          </a:p>
          <a:p>
            <a:r>
              <a:rPr lang="en-IN" dirty="0"/>
              <a:t>Native speakers use these combinations automatically.</a:t>
            </a:r>
          </a:p>
          <a:p>
            <a:r>
              <a:rPr lang="en-IN" dirty="0"/>
              <a:t>Using correct collocations improves fluency and professionalism.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0305D-4D54-A1F7-4290-5E3403FFE3FD}"/>
              </a:ext>
            </a:extLst>
          </p:cNvPr>
          <p:cNvSpPr txBox="1"/>
          <p:nvPr/>
        </p:nvSpPr>
        <p:spPr>
          <a:xfrm>
            <a:off x="1062790" y="3785937"/>
            <a:ext cx="4054642" cy="2042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Examples</a:t>
            </a:r>
          </a:p>
          <a:p>
            <a:pPr>
              <a:buNone/>
            </a:pPr>
            <a:r>
              <a:rPr lang="en-IN" dirty="0"/>
              <a:t>✓ Make a decision</a:t>
            </a:r>
          </a:p>
          <a:p>
            <a:pPr>
              <a:buNone/>
            </a:pPr>
            <a:r>
              <a:rPr lang="en-IN" dirty="0"/>
              <a:t>✓ Conduct research</a:t>
            </a:r>
          </a:p>
          <a:p>
            <a:pPr>
              <a:buNone/>
            </a:pPr>
            <a:r>
              <a:rPr lang="en-IN" dirty="0"/>
              <a:t>✓ Meet deadlines</a:t>
            </a:r>
          </a:p>
          <a:p>
            <a:pPr>
              <a:buNone/>
            </a:pPr>
            <a:r>
              <a:rPr lang="en-IN" dirty="0"/>
              <a:t>✓ Deliver a presentation</a:t>
            </a:r>
          </a:p>
          <a:p>
            <a:pPr>
              <a:buNone/>
            </a:pPr>
            <a:r>
              <a:rPr lang="en-IN" dirty="0"/>
              <a:t>✓ Gain experience</a:t>
            </a:r>
          </a:p>
          <a:p>
            <a:pPr>
              <a:buNone/>
            </a:pPr>
            <a:r>
              <a:rPr lang="en-IN" dirty="0"/>
              <a:t>✓ Solve a problem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A9945-8590-65A0-5A74-9481BDF7A521}"/>
              </a:ext>
            </a:extLst>
          </p:cNvPr>
          <p:cNvSpPr txBox="1"/>
          <p:nvPr/>
        </p:nvSpPr>
        <p:spPr>
          <a:xfrm>
            <a:off x="7267076" y="3796969"/>
            <a:ext cx="34811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Incorrect Examples</a:t>
            </a:r>
          </a:p>
          <a:p>
            <a:pPr>
              <a:buNone/>
            </a:pPr>
            <a:r>
              <a:rPr lang="en-IN" dirty="0"/>
              <a:t>✗ Do a decision</a:t>
            </a:r>
          </a:p>
          <a:p>
            <a:pPr>
              <a:buNone/>
            </a:pPr>
            <a:r>
              <a:rPr lang="en-IN" dirty="0"/>
              <a:t>✗ Make research</a:t>
            </a:r>
          </a:p>
          <a:p>
            <a:pPr>
              <a:buNone/>
            </a:pPr>
            <a:r>
              <a:rPr lang="en-IN" dirty="0"/>
              <a:t>✗ Catch a deadline</a:t>
            </a:r>
          </a:p>
          <a:p>
            <a:pPr>
              <a:buNone/>
            </a:pPr>
            <a:r>
              <a:rPr lang="en-IN" dirty="0"/>
              <a:t>✗ Give a presentation</a:t>
            </a:r>
          </a:p>
          <a:p>
            <a:pPr>
              <a:buNone/>
            </a:pPr>
            <a:r>
              <a:rPr lang="en-IN" dirty="0"/>
              <a:t>✗ Take experience</a:t>
            </a:r>
          </a:p>
          <a:p>
            <a:pPr>
              <a:buNone/>
            </a:pPr>
            <a:r>
              <a:rPr lang="en-IN" dirty="0"/>
              <a:t>✗ Clear a problem</a:t>
            </a:r>
          </a:p>
        </p:txBody>
      </p:sp>
    </p:spTree>
    <p:extLst>
      <p:ext uri="{BB962C8B-B14F-4D97-AF65-F5344CB8AC3E}">
        <p14:creationId xmlns:p14="http://schemas.microsoft.com/office/powerpoint/2010/main" val="2974622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FA245-B494-1918-3E52-61D7AFEFA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PROFESSIONAL COLLOCATIONS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55D07-67A7-064A-D2DE-0EACAB0F4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3778147" cy="3612591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Academic and Technical Context</a:t>
            </a:r>
          </a:p>
          <a:p>
            <a:r>
              <a:rPr lang="en-IN" dirty="0"/>
              <a:t>• Conduct research</a:t>
            </a:r>
          </a:p>
          <a:p>
            <a:r>
              <a:rPr lang="en-IN" dirty="0"/>
              <a:t>• </a:t>
            </a:r>
            <a:r>
              <a:rPr lang="en-IN" dirty="0" err="1"/>
              <a:t>Analyze</a:t>
            </a:r>
            <a:r>
              <a:rPr lang="en-IN" dirty="0"/>
              <a:t> data</a:t>
            </a:r>
          </a:p>
          <a:p>
            <a:r>
              <a:rPr lang="en-IN" dirty="0"/>
              <a:t>• Develop software</a:t>
            </a:r>
          </a:p>
          <a:p>
            <a:r>
              <a:rPr lang="en-IN" dirty="0"/>
              <a:t>• Complete projects</a:t>
            </a:r>
          </a:p>
          <a:p>
            <a:r>
              <a:rPr lang="en-IN" dirty="0"/>
              <a:t>• Submit assignments</a:t>
            </a:r>
          </a:p>
          <a:p>
            <a:r>
              <a:rPr lang="en-IN" dirty="0"/>
              <a:t>• Perform experiments</a:t>
            </a:r>
          </a:p>
          <a:p>
            <a:r>
              <a:rPr lang="en-IN" dirty="0"/>
              <a:t>• Generate results</a:t>
            </a:r>
          </a:p>
          <a:p>
            <a:r>
              <a:rPr lang="en-IN" dirty="0"/>
              <a:t>• Solve problems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61B00-75C4-6DB2-2225-C1332B7D8062}"/>
              </a:ext>
            </a:extLst>
          </p:cNvPr>
          <p:cNvSpPr txBox="1"/>
          <p:nvPr/>
        </p:nvSpPr>
        <p:spPr>
          <a:xfrm>
            <a:off x="6481011" y="1853754"/>
            <a:ext cx="40105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Workplace Context</a:t>
            </a:r>
          </a:p>
          <a:p>
            <a:pPr>
              <a:buNone/>
            </a:pPr>
            <a:r>
              <a:rPr lang="en-IN" dirty="0"/>
              <a:t>• Meet deadlines</a:t>
            </a:r>
          </a:p>
          <a:p>
            <a:pPr>
              <a:buNone/>
            </a:pPr>
            <a:r>
              <a:rPr lang="en-IN" dirty="0"/>
              <a:t>• Achieve goals</a:t>
            </a:r>
          </a:p>
          <a:p>
            <a:pPr>
              <a:buNone/>
            </a:pPr>
            <a:r>
              <a:rPr lang="en-IN" dirty="0"/>
              <a:t>• Build relationships</a:t>
            </a:r>
          </a:p>
          <a:p>
            <a:pPr>
              <a:buNone/>
            </a:pPr>
            <a:r>
              <a:rPr lang="en-IN" dirty="0"/>
              <a:t>• Handle responsibilities</a:t>
            </a:r>
          </a:p>
          <a:p>
            <a:pPr>
              <a:buNone/>
            </a:pPr>
            <a:r>
              <a:rPr lang="en-IN" dirty="0"/>
              <a:t>• Improve performance</a:t>
            </a:r>
          </a:p>
          <a:p>
            <a:pPr>
              <a:buNone/>
            </a:pPr>
            <a:r>
              <a:rPr lang="en-IN" dirty="0"/>
              <a:t>• Deliver results</a:t>
            </a:r>
          </a:p>
          <a:p>
            <a:pPr>
              <a:buNone/>
            </a:pPr>
            <a:r>
              <a:rPr lang="en-IN" dirty="0"/>
              <a:t>• Take initiative</a:t>
            </a:r>
          </a:p>
          <a:p>
            <a:pPr>
              <a:buNone/>
            </a:pPr>
            <a:r>
              <a:rPr lang="en-IN" dirty="0"/>
              <a:t>• Address issues</a:t>
            </a:r>
          </a:p>
        </p:txBody>
      </p:sp>
    </p:spTree>
    <p:extLst>
      <p:ext uri="{BB962C8B-B14F-4D97-AF65-F5344CB8AC3E}">
        <p14:creationId xmlns:p14="http://schemas.microsoft.com/office/powerpoint/2010/main" val="4180607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F799-4BA5-E5E5-306E-52FC0766A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SLIDE 7: PLACEMENT TIPS &amp; AMCAT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27312-E3EB-AE1C-0BC3-0ECBBB891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5318189" cy="3422542"/>
          </a:xfrm>
        </p:spPr>
        <p:txBody>
          <a:bodyPr/>
          <a:lstStyle/>
          <a:p>
            <a:r>
              <a:rPr lang="en-IN" b="1" dirty="0"/>
              <a:t>How to Improve Collocations</a:t>
            </a:r>
          </a:p>
          <a:p>
            <a:r>
              <a:rPr lang="en-IN" dirty="0"/>
              <a:t>Read newspapers regularly.</a:t>
            </a:r>
          </a:p>
          <a:p>
            <a:r>
              <a:rPr lang="en-IN" dirty="0"/>
              <a:t>Learn words in pairs.</a:t>
            </a:r>
          </a:p>
          <a:p>
            <a:r>
              <a:rPr lang="en-IN" dirty="0"/>
              <a:t>Practice workplace vocabulary.</a:t>
            </a:r>
          </a:p>
          <a:p>
            <a:r>
              <a:rPr lang="en-IN" dirty="0"/>
              <a:t>Focus on common interview phrases.</a:t>
            </a:r>
          </a:p>
          <a:p>
            <a:r>
              <a:rPr lang="en-IN" dirty="0"/>
              <a:t>Attempt timed vocabulary quizzes.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B6FD4-F3B9-D508-98E2-864256A6249F}"/>
              </a:ext>
            </a:extLst>
          </p:cNvPr>
          <p:cNvSpPr txBox="1"/>
          <p:nvPr/>
        </p:nvSpPr>
        <p:spPr>
          <a:xfrm>
            <a:off x="6930189" y="2142512"/>
            <a:ext cx="51013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Frequently Tested Areas</a:t>
            </a:r>
          </a:p>
          <a:p>
            <a:pPr>
              <a:buNone/>
            </a:pPr>
            <a:r>
              <a:rPr lang="en-IN" dirty="0"/>
              <a:t>✓ Synonyms</a:t>
            </a:r>
          </a:p>
          <a:p>
            <a:pPr>
              <a:buNone/>
            </a:pPr>
            <a:r>
              <a:rPr lang="en-IN" dirty="0"/>
              <a:t>✓ Contextual vocabulary</a:t>
            </a:r>
          </a:p>
          <a:p>
            <a:pPr>
              <a:buNone/>
            </a:pPr>
            <a:r>
              <a:rPr lang="en-IN" dirty="0"/>
              <a:t>✓ Collocations</a:t>
            </a:r>
          </a:p>
          <a:p>
            <a:pPr>
              <a:buNone/>
            </a:pPr>
            <a:r>
              <a:rPr lang="en-IN" dirty="0"/>
              <a:t>✓ Error identification</a:t>
            </a:r>
          </a:p>
          <a:p>
            <a:pPr>
              <a:buNone/>
            </a:pPr>
            <a:r>
              <a:rPr lang="en-IN" dirty="0"/>
              <a:t>✓ Sentence completion</a:t>
            </a:r>
          </a:p>
          <a:p>
            <a:pPr>
              <a:buNone/>
            </a:pPr>
            <a:r>
              <a:rPr lang="en-IN" dirty="0"/>
              <a:t>✓ Professional communication</a:t>
            </a:r>
          </a:p>
        </p:txBody>
      </p:sp>
    </p:spTree>
    <p:extLst>
      <p:ext uri="{BB962C8B-B14F-4D97-AF65-F5344CB8AC3E}">
        <p14:creationId xmlns:p14="http://schemas.microsoft.com/office/powerpoint/2010/main" val="950642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D440-F1C7-5F13-2A6B-9419B008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WORD CHOICE ERRORS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5E692C-5884-473B-FB90-752975E214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754631"/>
              </p:ext>
            </p:extLst>
          </p:nvPr>
        </p:nvGraphicFramePr>
        <p:xfrm>
          <a:off x="1450974" y="1732547"/>
          <a:ext cx="9603276" cy="393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1638">
                  <a:extLst>
                    <a:ext uri="{9D8B030D-6E8A-4147-A177-3AD203B41FA5}">
                      <a16:colId xmlns:a16="http://schemas.microsoft.com/office/drawing/2014/main" val="2853304800"/>
                    </a:ext>
                  </a:extLst>
                </a:gridCol>
                <a:gridCol w="4801638">
                  <a:extLst>
                    <a:ext uri="{9D8B030D-6E8A-4147-A177-3AD203B41FA5}">
                      <a16:colId xmlns:a16="http://schemas.microsoft.com/office/drawing/2014/main" val="3685548565"/>
                    </a:ext>
                  </a:extLst>
                </a:gridCol>
              </a:tblGrid>
              <a:tr h="420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Incorrect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Correct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7824549"/>
                  </a:ext>
                </a:extLst>
              </a:tr>
              <a:tr h="420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Strong 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Heavy rain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452094"/>
                  </a:ext>
                </a:extLst>
              </a:tr>
              <a:tr h="420005">
                <a:tc>
                  <a:txBody>
                    <a:bodyPr/>
                    <a:lstStyle/>
                    <a:p>
                      <a:r>
                        <a:rPr lang="en-IN" dirty="0"/>
                        <a:t>Do a mistake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Make a mistake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714296"/>
                  </a:ext>
                </a:extLst>
              </a:tr>
              <a:tr h="420005">
                <a:tc>
                  <a:txBody>
                    <a:bodyPr/>
                    <a:lstStyle/>
                    <a:p>
                      <a:r>
                        <a:rPr lang="en-IN" dirty="0"/>
                        <a:t>Give an exam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Take an exam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109440"/>
                  </a:ext>
                </a:extLst>
              </a:tr>
              <a:tr h="420005">
                <a:tc>
                  <a:txBody>
                    <a:bodyPr/>
                    <a:lstStyle/>
                    <a:p>
                      <a:r>
                        <a:rPr lang="en-IN" dirty="0"/>
                        <a:t>Big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Significant 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908332"/>
                  </a:ext>
                </a:extLst>
              </a:tr>
              <a:tr h="420005">
                <a:tc>
                  <a:txBody>
                    <a:bodyPr/>
                    <a:lstStyle/>
                    <a:p>
                      <a:r>
                        <a:rPr lang="en-IN" dirty="0"/>
                        <a:t>Fast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Rapid growth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403886"/>
                  </a:ext>
                </a:extLst>
              </a:tr>
              <a:tr h="420005">
                <a:tc>
                  <a:txBody>
                    <a:bodyPr/>
                    <a:lstStyle/>
                    <a:p>
                      <a:r>
                        <a:rPr lang="en-IN" dirty="0"/>
                        <a:t>Make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Conduct research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642911"/>
                  </a:ext>
                </a:extLst>
              </a:tr>
              <a:tr h="570280">
                <a:tc>
                  <a:txBody>
                    <a:bodyPr/>
                    <a:lstStyle/>
                    <a:p>
                      <a:r>
                        <a:rPr lang="en-IN" dirty="0"/>
                        <a:t>Catch a 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Meet a deadline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650549"/>
                  </a:ext>
                </a:extLst>
              </a:tr>
              <a:tr h="420005">
                <a:tc>
                  <a:txBody>
                    <a:bodyPr/>
                    <a:lstStyle/>
                    <a:p>
                      <a:r>
                        <a:rPr lang="en-IN" dirty="0"/>
                        <a:t>Do a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Deliver a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411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0369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8374D-2524-0445-214B-5CEA0DF02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1"/>
            <a:ext cx="9200378" cy="49730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MCQ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E349E-FFFE-B055-0766-1D8C201CD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748" y="1138989"/>
            <a:ext cx="2618873" cy="4899046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1. Choose the correct collocation.</a:t>
            </a:r>
          </a:p>
          <a:p>
            <a:r>
              <a:rPr lang="en-IN" dirty="0"/>
              <a:t>A. Do a mistake</a:t>
            </a:r>
          </a:p>
          <a:p>
            <a:r>
              <a:rPr lang="en-IN" dirty="0"/>
              <a:t>B. Make a mistake</a:t>
            </a:r>
          </a:p>
          <a:p>
            <a:r>
              <a:rPr lang="en-IN" dirty="0"/>
              <a:t>C. Give a mistake</a:t>
            </a:r>
          </a:p>
          <a:p>
            <a:r>
              <a:rPr lang="en-IN" dirty="0"/>
              <a:t>D. Take a mistake</a:t>
            </a:r>
          </a:p>
          <a:p>
            <a:r>
              <a:rPr lang="en-IN" b="1" dirty="0"/>
              <a:t>2. The team successfully ______ the project.</a:t>
            </a:r>
          </a:p>
          <a:p>
            <a:r>
              <a:rPr lang="en-IN" dirty="0"/>
              <a:t>A. conducted</a:t>
            </a:r>
          </a:p>
          <a:p>
            <a:r>
              <a:rPr lang="en-IN" dirty="0"/>
              <a:t>B. achieved</a:t>
            </a:r>
          </a:p>
          <a:p>
            <a:r>
              <a:rPr lang="en-IN" dirty="0"/>
              <a:t>C. completed</a:t>
            </a:r>
          </a:p>
          <a:p>
            <a:r>
              <a:rPr lang="en-IN" dirty="0"/>
              <a:t>D. generated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526AB-DEB0-EF44-22C2-6B1B31856439}"/>
              </a:ext>
            </a:extLst>
          </p:cNvPr>
          <p:cNvSpPr txBox="1"/>
          <p:nvPr/>
        </p:nvSpPr>
        <p:spPr>
          <a:xfrm>
            <a:off x="3184358" y="1138989"/>
            <a:ext cx="208547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 Engineers must ______ data carefully.</a:t>
            </a:r>
          </a:p>
          <a:p>
            <a:pPr>
              <a:buNone/>
            </a:pPr>
            <a:r>
              <a:rPr lang="en-IN" dirty="0"/>
              <a:t>A. </a:t>
            </a:r>
            <a:r>
              <a:rPr lang="en-IN" dirty="0" err="1"/>
              <a:t>analyze</a:t>
            </a:r>
            <a:endParaRPr lang="en-IN" dirty="0"/>
          </a:p>
          <a:p>
            <a:pPr>
              <a:buNone/>
            </a:pPr>
            <a:r>
              <a:rPr lang="en-IN" dirty="0"/>
              <a:t>B. create</a:t>
            </a:r>
          </a:p>
          <a:p>
            <a:pPr>
              <a:buNone/>
            </a:pPr>
            <a:r>
              <a:rPr lang="en-IN" dirty="0"/>
              <a:t>C. perform</a:t>
            </a:r>
          </a:p>
          <a:p>
            <a:pPr>
              <a:buNone/>
            </a:pPr>
            <a:r>
              <a:rPr lang="en-IN" dirty="0"/>
              <a:t>D. gain</a:t>
            </a:r>
          </a:p>
          <a:p>
            <a:pPr>
              <a:buNone/>
            </a:pPr>
            <a:r>
              <a:rPr lang="en-IN" b="1" dirty="0"/>
              <a:t>4. We need to ______ research before implementation.</a:t>
            </a:r>
          </a:p>
          <a:p>
            <a:pPr>
              <a:buNone/>
            </a:pPr>
            <a:r>
              <a:rPr lang="en-IN" dirty="0"/>
              <a:t>A. make</a:t>
            </a:r>
          </a:p>
          <a:p>
            <a:pPr>
              <a:buNone/>
            </a:pPr>
            <a:r>
              <a:rPr lang="en-IN" dirty="0"/>
              <a:t>B. conduct</a:t>
            </a:r>
          </a:p>
          <a:p>
            <a:pPr>
              <a:buNone/>
            </a:pPr>
            <a:r>
              <a:rPr lang="en-IN" dirty="0"/>
              <a:t>C. create</a:t>
            </a:r>
          </a:p>
          <a:p>
            <a:pPr>
              <a:buNone/>
            </a:pPr>
            <a:r>
              <a:rPr lang="en-IN" dirty="0"/>
              <a:t>D. develop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3162D6-0196-3EDE-0986-8720FE0D9A41}"/>
              </a:ext>
            </a:extLst>
          </p:cNvPr>
          <p:cNvSpPr txBox="1"/>
          <p:nvPr/>
        </p:nvSpPr>
        <p:spPr>
          <a:xfrm>
            <a:off x="6112042" y="1138989"/>
            <a:ext cx="208547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5. She ______ a presentation on AI.</a:t>
            </a:r>
          </a:p>
          <a:p>
            <a:pPr>
              <a:buNone/>
            </a:pPr>
            <a:r>
              <a:rPr lang="en-IN" dirty="0"/>
              <a:t>A. gave</a:t>
            </a:r>
          </a:p>
          <a:p>
            <a:pPr>
              <a:buNone/>
            </a:pPr>
            <a:r>
              <a:rPr lang="en-IN" dirty="0"/>
              <a:t>B. delivered</a:t>
            </a:r>
          </a:p>
          <a:p>
            <a:pPr>
              <a:buNone/>
            </a:pPr>
            <a:r>
              <a:rPr lang="en-IN" dirty="0"/>
              <a:t>C. made</a:t>
            </a:r>
          </a:p>
          <a:p>
            <a:pPr>
              <a:buNone/>
            </a:pPr>
            <a:r>
              <a:rPr lang="en-IN" dirty="0"/>
              <a:t>D. created</a:t>
            </a:r>
          </a:p>
          <a:p>
            <a:pPr>
              <a:buNone/>
            </a:pPr>
            <a:r>
              <a:rPr lang="en-IN" b="1" dirty="0"/>
              <a:t>6. Students should ______ experience through internships.</a:t>
            </a:r>
          </a:p>
          <a:p>
            <a:pPr>
              <a:buNone/>
            </a:pPr>
            <a:r>
              <a:rPr lang="en-IN" dirty="0"/>
              <a:t>A. gain</a:t>
            </a:r>
          </a:p>
          <a:p>
            <a:pPr>
              <a:buNone/>
            </a:pPr>
            <a:r>
              <a:rPr lang="en-IN" dirty="0"/>
              <a:t>B. take</a:t>
            </a:r>
          </a:p>
          <a:p>
            <a:pPr>
              <a:buNone/>
            </a:pPr>
            <a:r>
              <a:rPr lang="en-IN" dirty="0"/>
              <a:t>C. make</a:t>
            </a:r>
          </a:p>
          <a:p>
            <a:pPr>
              <a:buNone/>
            </a:pPr>
            <a:r>
              <a:rPr lang="en-IN" dirty="0"/>
              <a:t>D. conduct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FAD7C-173A-7BC0-5ECF-64791A027E1F}"/>
              </a:ext>
            </a:extLst>
          </p:cNvPr>
          <p:cNvSpPr txBox="1"/>
          <p:nvPr/>
        </p:nvSpPr>
        <p:spPr>
          <a:xfrm>
            <a:off x="8889272" y="1969985"/>
            <a:ext cx="224394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7. The company achieved ______ growth.</a:t>
            </a:r>
          </a:p>
          <a:p>
            <a:pPr>
              <a:buNone/>
            </a:pPr>
            <a:r>
              <a:rPr lang="en-IN" dirty="0"/>
              <a:t>A. fast</a:t>
            </a:r>
          </a:p>
          <a:p>
            <a:pPr>
              <a:buNone/>
            </a:pPr>
            <a:r>
              <a:rPr lang="en-IN" dirty="0"/>
              <a:t>B. strong</a:t>
            </a:r>
          </a:p>
          <a:p>
            <a:pPr>
              <a:buNone/>
            </a:pPr>
            <a:r>
              <a:rPr lang="en-IN" dirty="0"/>
              <a:t>C. rapid</a:t>
            </a:r>
          </a:p>
          <a:p>
            <a:pPr>
              <a:buNone/>
            </a:pPr>
            <a:r>
              <a:rPr lang="en-IN" dirty="0"/>
              <a:t>D. hard</a:t>
            </a:r>
          </a:p>
          <a:p>
            <a:pPr>
              <a:buNone/>
            </a:pPr>
            <a:r>
              <a:rPr lang="en-IN" b="1" dirty="0"/>
              <a:t>8. Teams must ______ deadlines.</a:t>
            </a:r>
          </a:p>
          <a:p>
            <a:pPr>
              <a:buNone/>
            </a:pPr>
            <a:r>
              <a:rPr lang="en-IN" dirty="0"/>
              <a:t>A. catch</a:t>
            </a:r>
          </a:p>
          <a:p>
            <a:pPr>
              <a:buNone/>
            </a:pPr>
            <a:r>
              <a:rPr lang="en-IN" dirty="0"/>
              <a:t>B. meet</a:t>
            </a:r>
          </a:p>
          <a:p>
            <a:pPr>
              <a:buNone/>
            </a:pPr>
            <a:r>
              <a:rPr lang="en-IN" dirty="0"/>
              <a:t>C. reach</a:t>
            </a:r>
          </a:p>
          <a:p>
            <a:pPr>
              <a:buNone/>
            </a:pPr>
            <a:r>
              <a:rPr lang="en-IN" dirty="0"/>
              <a:t>D. obtain</a:t>
            </a:r>
          </a:p>
        </p:txBody>
      </p:sp>
    </p:spTree>
    <p:extLst>
      <p:ext uri="{BB962C8B-B14F-4D97-AF65-F5344CB8AC3E}">
        <p14:creationId xmlns:p14="http://schemas.microsoft.com/office/powerpoint/2010/main" val="3979945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41B5B-062D-1575-51FA-A42350E9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MCQ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269F3-6AB5-B5EE-4C3A-AEB191408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84" y="1758574"/>
            <a:ext cx="2322094" cy="4294907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9. We need to ______ solutions.</a:t>
            </a:r>
          </a:p>
          <a:p>
            <a:r>
              <a:rPr lang="en-IN" dirty="0"/>
              <a:t>A. develop</a:t>
            </a:r>
          </a:p>
          <a:p>
            <a:r>
              <a:rPr lang="en-IN" dirty="0"/>
              <a:t>B. make</a:t>
            </a:r>
          </a:p>
          <a:p>
            <a:r>
              <a:rPr lang="en-IN" dirty="0"/>
              <a:t>C. gain</a:t>
            </a:r>
          </a:p>
          <a:p>
            <a:r>
              <a:rPr lang="en-IN" dirty="0"/>
              <a:t>D. meet</a:t>
            </a:r>
          </a:p>
          <a:p>
            <a:r>
              <a:rPr lang="en-IN" b="1" dirty="0"/>
              <a:t>10. Choose the correct phrase.</a:t>
            </a:r>
          </a:p>
          <a:p>
            <a:r>
              <a:rPr lang="en-IN" dirty="0"/>
              <a:t>A. Make research</a:t>
            </a:r>
          </a:p>
          <a:p>
            <a:r>
              <a:rPr lang="en-IN" dirty="0"/>
              <a:t>B. Conduct research</a:t>
            </a:r>
          </a:p>
          <a:p>
            <a:r>
              <a:rPr lang="en-IN" dirty="0"/>
              <a:t>C. Do researches</a:t>
            </a:r>
          </a:p>
          <a:p>
            <a:r>
              <a:rPr lang="en-IN" dirty="0"/>
              <a:t>D. Create research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69665-2927-A7B2-0CAA-49F91DB945F5}"/>
              </a:ext>
            </a:extLst>
          </p:cNvPr>
          <p:cNvSpPr txBox="1"/>
          <p:nvPr/>
        </p:nvSpPr>
        <p:spPr>
          <a:xfrm>
            <a:off x="2667001" y="1806164"/>
            <a:ext cx="232209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The manager ______ responsibilities effectively.</a:t>
            </a:r>
          </a:p>
          <a:p>
            <a:pPr>
              <a:buNone/>
            </a:pPr>
            <a:r>
              <a:rPr lang="en-IN" dirty="0"/>
              <a:t>A. handles</a:t>
            </a:r>
          </a:p>
          <a:p>
            <a:pPr>
              <a:buNone/>
            </a:pPr>
            <a:r>
              <a:rPr lang="en-IN" dirty="0"/>
              <a:t>B. conducts</a:t>
            </a:r>
          </a:p>
          <a:p>
            <a:pPr>
              <a:buNone/>
            </a:pPr>
            <a:r>
              <a:rPr lang="en-IN" dirty="0"/>
              <a:t>C. gains</a:t>
            </a:r>
          </a:p>
          <a:p>
            <a:pPr>
              <a:buNone/>
            </a:pPr>
            <a:r>
              <a:rPr lang="en-IN" dirty="0"/>
              <a:t>D. achieves</a:t>
            </a:r>
          </a:p>
          <a:p>
            <a:pPr>
              <a:buNone/>
            </a:pPr>
            <a:r>
              <a:rPr lang="en-IN" b="1" dirty="0"/>
              <a:t>12. We should ______ customer concerns.</a:t>
            </a:r>
          </a:p>
          <a:p>
            <a:pPr>
              <a:buNone/>
            </a:pPr>
            <a:r>
              <a:rPr lang="en-IN" dirty="0"/>
              <a:t>A. solve</a:t>
            </a:r>
          </a:p>
          <a:p>
            <a:pPr>
              <a:buNone/>
            </a:pPr>
            <a:r>
              <a:rPr lang="en-IN" dirty="0"/>
              <a:t>B. address</a:t>
            </a:r>
          </a:p>
          <a:p>
            <a:pPr>
              <a:buNone/>
            </a:pPr>
            <a:r>
              <a:rPr lang="en-IN" dirty="0"/>
              <a:t>C. generate</a:t>
            </a:r>
          </a:p>
          <a:p>
            <a:pPr>
              <a:buNone/>
            </a:pPr>
            <a:r>
              <a:rPr lang="en-IN" dirty="0"/>
              <a:t>D. gain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A1B900-33EC-C90B-FE81-603BC2BAAE1F}"/>
              </a:ext>
            </a:extLst>
          </p:cNvPr>
          <p:cNvSpPr txBox="1"/>
          <p:nvPr/>
        </p:nvSpPr>
        <p:spPr>
          <a:xfrm>
            <a:off x="5052063" y="1853754"/>
            <a:ext cx="240230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13. The report contains ______ information.</a:t>
            </a:r>
          </a:p>
          <a:p>
            <a:pPr>
              <a:buNone/>
            </a:pPr>
            <a:r>
              <a:rPr lang="en-IN" dirty="0"/>
              <a:t>A. useful</a:t>
            </a:r>
          </a:p>
          <a:p>
            <a:pPr>
              <a:buNone/>
            </a:pPr>
            <a:r>
              <a:rPr lang="en-IN" dirty="0"/>
              <a:t>B. use</a:t>
            </a:r>
          </a:p>
          <a:p>
            <a:pPr>
              <a:buNone/>
            </a:pPr>
            <a:r>
              <a:rPr lang="en-IN" dirty="0"/>
              <a:t>C. using</a:t>
            </a:r>
          </a:p>
          <a:p>
            <a:pPr>
              <a:buNone/>
            </a:pPr>
            <a:r>
              <a:rPr lang="en-IN" dirty="0"/>
              <a:t>D. used</a:t>
            </a:r>
          </a:p>
          <a:p>
            <a:pPr>
              <a:buNone/>
            </a:pPr>
            <a:r>
              <a:rPr lang="en-IN" b="1" dirty="0"/>
              <a:t>14. Students should ______ initiative.</a:t>
            </a:r>
          </a:p>
          <a:p>
            <a:pPr>
              <a:buNone/>
            </a:pPr>
            <a:r>
              <a:rPr lang="en-IN" dirty="0"/>
              <a:t>A. take</a:t>
            </a:r>
          </a:p>
          <a:p>
            <a:pPr>
              <a:buNone/>
            </a:pPr>
            <a:r>
              <a:rPr lang="en-IN" dirty="0"/>
              <a:t>B. make</a:t>
            </a:r>
          </a:p>
          <a:p>
            <a:pPr>
              <a:buNone/>
            </a:pPr>
            <a:r>
              <a:rPr lang="en-IN" dirty="0"/>
              <a:t>C. gain</a:t>
            </a:r>
          </a:p>
          <a:p>
            <a:pPr>
              <a:buNone/>
            </a:pPr>
            <a:r>
              <a:rPr lang="en-IN" dirty="0"/>
              <a:t>D. conduct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C2527F-F706-A30F-E3E9-7274F691BFAA}"/>
              </a:ext>
            </a:extLst>
          </p:cNvPr>
          <p:cNvSpPr txBox="1"/>
          <p:nvPr/>
        </p:nvSpPr>
        <p:spPr>
          <a:xfrm>
            <a:off x="7454370" y="1853754"/>
            <a:ext cx="24023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15. The project produced ______ results.</a:t>
            </a:r>
          </a:p>
          <a:p>
            <a:pPr>
              <a:buNone/>
            </a:pPr>
            <a:r>
              <a:rPr lang="en-IN" dirty="0"/>
              <a:t>A. effective</a:t>
            </a:r>
          </a:p>
          <a:p>
            <a:pPr>
              <a:buNone/>
            </a:pPr>
            <a:r>
              <a:rPr lang="en-IN" dirty="0"/>
              <a:t>B. efficient</a:t>
            </a:r>
          </a:p>
          <a:p>
            <a:pPr>
              <a:buNone/>
            </a:pPr>
            <a:r>
              <a:rPr lang="en-IN" dirty="0"/>
              <a:t>C. successful</a:t>
            </a:r>
          </a:p>
          <a:p>
            <a:pPr>
              <a:buNone/>
            </a:pPr>
            <a:r>
              <a:rPr lang="en-IN" dirty="0"/>
              <a:t>D. significant</a:t>
            </a:r>
          </a:p>
          <a:p>
            <a:pPr>
              <a:buNone/>
            </a:pPr>
            <a:r>
              <a:rPr lang="en-IN" b="1" dirty="0"/>
              <a:t>16. Teams must ______ collaboratively.</a:t>
            </a:r>
          </a:p>
          <a:p>
            <a:pPr>
              <a:buNone/>
            </a:pPr>
            <a:r>
              <a:rPr lang="en-IN" dirty="0"/>
              <a:t>A. work</a:t>
            </a:r>
          </a:p>
          <a:p>
            <a:pPr>
              <a:buNone/>
            </a:pPr>
            <a:r>
              <a:rPr lang="en-IN" dirty="0"/>
              <a:t>B. perform</a:t>
            </a:r>
          </a:p>
          <a:p>
            <a:pPr>
              <a:buNone/>
            </a:pPr>
            <a:r>
              <a:rPr lang="en-IN" dirty="0"/>
              <a:t>C. create</a:t>
            </a:r>
          </a:p>
          <a:p>
            <a:pPr>
              <a:buNone/>
            </a:pPr>
            <a:r>
              <a:rPr lang="en-IN" dirty="0"/>
              <a:t>D. deliver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3AEBCB-5556-78D2-A736-DC8456A42076}"/>
              </a:ext>
            </a:extLst>
          </p:cNvPr>
          <p:cNvSpPr txBox="1"/>
          <p:nvPr/>
        </p:nvSpPr>
        <p:spPr>
          <a:xfrm>
            <a:off x="9818180" y="1758574"/>
            <a:ext cx="252663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18. The company wants to ______ performance.</a:t>
            </a:r>
          </a:p>
          <a:p>
            <a:pPr>
              <a:buNone/>
            </a:pPr>
            <a:r>
              <a:rPr lang="en-IN" dirty="0"/>
              <a:t>A. improve</a:t>
            </a:r>
          </a:p>
          <a:p>
            <a:pPr>
              <a:buNone/>
            </a:pPr>
            <a:r>
              <a:rPr lang="en-IN" dirty="0"/>
              <a:t>B. gain</a:t>
            </a:r>
          </a:p>
          <a:p>
            <a:pPr>
              <a:buNone/>
            </a:pPr>
            <a:r>
              <a:rPr lang="en-IN" dirty="0"/>
              <a:t>C. meet</a:t>
            </a:r>
          </a:p>
          <a:p>
            <a:pPr>
              <a:buNone/>
            </a:pPr>
            <a:r>
              <a:rPr lang="en-IN" dirty="0"/>
              <a:t>D. create</a:t>
            </a:r>
          </a:p>
          <a:p>
            <a:pPr>
              <a:buNone/>
            </a:pPr>
            <a:r>
              <a:rPr lang="en-IN" b="1" dirty="0"/>
              <a:t>19. Employees should ______ relationships.</a:t>
            </a:r>
          </a:p>
          <a:p>
            <a:pPr>
              <a:buNone/>
            </a:pPr>
            <a:r>
              <a:rPr lang="en-IN" dirty="0"/>
              <a:t>A. build</a:t>
            </a:r>
          </a:p>
          <a:p>
            <a:pPr>
              <a:buNone/>
            </a:pPr>
            <a:r>
              <a:rPr lang="en-IN" dirty="0"/>
              <a:t>B. gain</a:t>
            </a:r>
          </a:p>
          <a:p>
            <a:pPr>
              <a:buNone/>
            </a:pPr>
            <a:r>
              <a:rPr lang="en-IN" dirty="0"/>
              <a:t>C. solve</a:t>
            </a:r>
          </a:p>
          <a:p>
            <a:pPr>
              <a:buNone/>
            </a:pPr>
            <a:r>
              <a:rPr lang="en-IN" dirty="0"/>
              <a:t>D. conduct</a:t>
            </a:r>
          </a:p>
        </p:txBody>
      </p:sp>
    </p:spTree>
    <p:extLst>
      <p:ext uri="{BB962C8B-B14F-4D97-AF65-F5344CB8AC3E}">
        <p14:creationId xmlns:p14="http://schemas.microsoft.com/office/powerpoint/2010/main" val="3739888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72550-7B45-12FB-3B3A-13B8251C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MCQ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BFF37-D870-B649-897F-898A3BDF4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973179"/>
            <a:ext cx="2630906" cy="4121298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21. We should ______ objectives.</a:t>
            </a:r>
          </a:p>
          <a:p>
            <a:r>
              <a:rPr lang="en-IN" dirty="0"/>
              <a:t>A. meet</a:t>
            </a:r>
          </a:p>
          <a:p>
            <a:r>
              <a:rPr lang="en-IN" dirty="0"/>
              <a:t>B. achieve</a:t>
            </a:r>
          </a:p>
          <a:p>
            <a:r>
              <a:rPr lang="en-IN" dirty="0"/>
              <a:t>C. conduct</a:t>
            </a:r>
          </a:p>
          <a:p>
            <a:r>
              <a:rPr lang="en-IN" dirty="0"/>
              <a:t>D. develop</a:t>
            </a:r>
          </a:p>
          <a:p>
            <a:r>
              <a:rPr lang="en-IN" b="1" dirty="0"/>
              <a:t>22. The candidate ______ confidence during the interview.</a:t>
            </a:r>
          </a:p>
          <a:p>
            <a:r>
              <a:rPr lang="en-IN" dirty="0"/>
              <a:t>A. demonstrated</a:t>
            </a:r>
          </a:p>
          <a:p>
            <a:r>
              <a:rPr lang="en-IN" dirty="0"/>
              <a:t>B. delivered</a:t>
            </a:r>
          </a:p>
          <a:p>
            <a:r>
              <a:rPr lang="en-IN" dirty="0"/>
              <a:t>C. gained</a:t>
            </a:r>
          </a:p>
          <a:p>
            <a:r>
              <a:rPr lang="en-IN" dirty="0"/>
              <a:t>D. solved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146B5-0B74-6262-DA1C-04202E2DE92E}"/>
              </a:ext>
            </a:extLst>
          </p:cNvPr>
          <p:cNvSpPr txBox="1"/>
          <p:nvPr/>
        </p:nvSpPr>
        <p:spPr>
          <a:xfrm>
            <a:off x="2630905" y="2001849"/>
            <a:ext cx="23742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23. Engineers must ______ challenges.</a:t>
            </a:r>
          </a:p>
          <a:p>
            <a:pPr>
              <a:buNone/>
            </a:pPr>
            <a:r>
              <a:rPr lang="en-IN" dirty="0"/>
              <a:t>A. develop</a:t>
            </a:r>
          </a:p>
          <a:p>
            <a:pPr>
              <a:buNone/>
            </a:pPr>
            <a:r>
              <a:rPr lang="en-IN" dirty="0"/>
              <a:t>B. gain</a:t>
            </a:r>
          </a:p>
          <a:p>
            <a:pPr>
              <a:buNone/>
            </a:pPr>
            <a:r>
              <a:rPr lang="en-IN" dirty="0"/>
              <a:t>C. solve</a:t>
            </a:r>
          </a:p>
          <a:p>
            <a:pPr>
              <a:buNone/>
            </a:pPr>
            <a:r>
              <a:rPr lang="en-IN" dirty="0"/>
              <a:t>D. meet</a:t>
            </a:r>
          </a:p>
          <a:p>
            <a:pPr>
              <a:buNone/>
            </a:pPr>
            <a:r>
              <a:rPr lang="en-IN" b="1" dirty="0"/>
              <a:t>24. The company ______ a new strategy.</a:t>
            </a:r>
          </a:p>
          <a:p>
            <a:pPr>
              <a:buNone/>
            </a:pPr>
            <a:r>
              <a:rPr lang="en-IN" dirty="0"/>
              <a:t>A. developed</a:t>
            </a:r>
          </a:p>
          <a:p>
            <a:pPr>
              <a:buNone/>
            </a:pPr>
            <a:r>
              <a:rPr lang="en-IN" dirty="0"/>
              <a:t>B. met</a:t>
            </a:r>
          </a:p>
          <a:p>
            <a:pPr>
              <a:buNone/>
            </a:pPr>
            <a:r>
              <a:rPr lang="en-IN" dirty="0"/>
              <a:t>C. solved</a:t>
            </a:r>
          </a:p>
          <a:p>
            <a:pPr>
              <a:buNone/>
            </a:pPr>
            <a:r>
              <a:rPr lang="en-IN" dirty="0"/>
              <a:t>D. gained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C45D5D-97B2-0B1E-176C-8F06084500A3}"/>
              </a:ext>
            </a:extLst>
          </p:cNvPr>
          <p:cNvSpPr txBox="1"/>
          <p:nvPr/>
        </p:nvSpPr>
        <p:spPr>
          <a:xfrm>
            <a:off x="4937763" y="1973179"/>
            <a:ext cx="26309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25. Teams should ______ feedback positively.</a:t>
            </a:r>
          </a:p>
          <a:p>
            <a:pPr>
              <a:buNone/>
            </a:pPr>
            <a:r>
              <a:rPr lang="en-IN" dirty="0"/>
              <a:t>A. receive</a:t>
            </a:r>
          </a:p>
          <a:p>
            <a:pPr>
              <a:buNone/>
            </a:pPr>
            <a:r>
              <a:rPr lang="en-IN" dirty="0"/>
              <a:t>B. conduct</a:t>
            </a:r>
          </a:p>
          <a:p>
            <a:pPr>
              <a:buNone/>
            </a:pPr>
            <a:r>
              <a:rPr lang="en-IN" dirty="0"/>
              <a:t>C. generate</a:t>
            </a:r>
          </a:p>
          <a:p>
            <a:pPr>
              <a:buNone/>
            </a:pPr>
            <a:r>
              <a:rPr lang="en-IN" dirty="0"/>
              <a:t>D. achieve</a:t>
            </a:r>
          </a:p>
          <a:p>
            <a:pPr>
              <a:buNone/>
            </a:pPr>
            <a:r>
              <a:rPr lang="en-IN" b="1" dirty="0"/>
              <a:t>26. Students must ______ assignments on time.</a:t>
            </a:r>
          </a:p>
          <a:p>
            <a:pPr>
              <a:buNone/>
            </a:pPr>
            <a:r>
              <a:rPr lang="en-IN" dirty="0"/>
              <a:t>A. submit</a:t>
            </a:r>
          </a:p>
          <a:p>
            <a:pPr>
              <a:buNone/>
            </a:pPr>
            <a:r>
              <a:rPr lang="en-IN" dirty="0"/>
              <a:t>B. deliver</a:t>
            </a:r>
          </a:p>
          <a:p>
            <a:pPr>
              <a:buNone/>
            </a:pPr>
            <a:r>
              <a:rPr lang="en-IN" dirty="0"/>
              <a:t>C. generate</a:t>
            </a:r>
          </a:p>
          <a:p>
            <a:pPr>
              <a:buNone/>
            </a:pPr>
            <a:r>
              <a:rPr lang="en-IN" dirty="0"/>
              <a:t>D. conduct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FDD62A-9CDB-65A9-BD25-0F48D43C5389}"/>
              </a:ext>
            </a:extLst>
          </p:cNvPr>
          <p:cNvSpPr txBox="1"/>
          <p:nvPr/>
        </p:nvSpPr>
        <p:spPr>
          <a:xfrm>
            <a:off x="7311995" y="1973179"/>
            <a:ext cx="23742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27. The researchers ______ meaningful results.</a:t>
            </a:r>
          </a:p>
          <a:p>
            <a:pPr>
              <a:buNone/>
            </a:pPr>
            <a:r>
              <a:rPr lang="en-IN" dirty="0"/>
              <a:t>A. generated</a:t>
            </a:r>
          </a:p>
          <a:p>
            <a:pPr>
              <a:buNone/>
            </a:pPr>
            <a:r>
              <a:rPr lang="en-IN" dirty="0"/>
              <a:t>B. caught</a:t>
            </a:r>
          </a:p>
          <a:p>
            <a:pPr>
              <a:buNone/>
            </a:pPr>
            <a:r>
              <a:rPr lang="en-IN" dirty="0"/>
              <a:t>C. gained</a:t>
            </a:r>
          </a:p>
          <a:p>
            <a:pPr>
              <a:buNone/>
            </a:pPr>
            <a:r>
              <a:rPr lang="en-IN" dirty="0"/>
              <a:t>D. met</a:t>
            </a:r>
          </a:p>
          <a:p>
            <a:pPr>
              <a:buNone/>
            </a:pPr>
            <a:r>
              <a:rPr lang="en-IN" b="1" dirty="0"/>
              <a:t>28. The project ______ expectations.</a:t>
            </a:r>
          </a:p>
          <a:p>
            <a:pPr>
              <a:buNone/>
            </a:pPr>
            <a:r>
              <a:rPr lang="en-IN" dirty="0"/>
              <a:t>A. achieved</a:t>
            </a:r>
          </a:p>
          <a:p>
            <a:pPr>
              <a:buNone/>
            </a:pPr>
            <a:r>
              <a:rPr lang="en-IN" dirty="0"/>
              <a:t>B. met</a:t>
            </a:r>
          </a:p>
          <a:p>
            <a:pPr>
              <a:buNone/>
            </a:pPr>
            <a:r>
              <a:rPr lang="en-IN" dirty="0"/>
              <a:t>C. gained</a:t>
            </a:r>
          </a:p>
          <a:p>
            <a:pPr>
              <a:buNone/>
            </a:pPr>
            <a:r>
              <a:rPr lang="en-IN" dirty="0"/>
              <a:t>D. generated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9BF825-5B50-E947-27C5-C318A270B5B0}"/>
              </a:ext>
            </a:extLst>
          </p:cNvPr>
          <p:cNvSpPr txBox="1"/>
          <p:nvPr/>
        </p:nvSpPr>
        <p:spPr>
          <a:xfrm>
            <a:off x="9686227" y="1863349"/>
            <a:ext cx="23742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29. Employees should ______ skills continuously.</a:t>
            </a:r>
          </a:p>
          <a:p>
            <a:pPr>
              <a:buNone/>
            </a:pPr>
            <a:r>
              <a:rPr lang="en-IN" dirty="0"/>
              <a:t>A. develop</a:t>
            </a:r>
          </a:p>
          <a:p>
            <a:pPr>
              <a:buNone/>
            </a:pPr>
            <a:r>
              <a:rPr lang="en-IN" dirty="0"/>
              <a:t>B. catch</a:t>
            </a:r>
          </a:p>
          <a:p>
            <a:pPr>
              <a:buNone/>
            </a:pPr>
            <a:r>
              <a:rPr lang="en-IN" dirty="0"/>
              <a:t>C. conduct</a:t>
            </a:r>
          </a:p>
          <a:p>
            <a:pPr>
              <a:buNone/>
            </a:pPr>
            <a:r>
              <a:rPr lang="en-IN" dirty="0"/>
              <a:t>D. deliver</a:t>
            </a:r>
          </a:p>
          <a:p>
            <a:pPr>
              <a:buNone/>
            </a:pPr>
            <a:r>
              <a:rPr lang="en-IN" b="1" dirty="0"/>
              <a:t>30. The organization aims to ______ efficiency.</a:t>
            </a:r>
          </a:p>
          <a:p>
            <a:pPr>
              <a:buNone/>
            </a:pPr>
            <a:r>
              <a:rPr lang="en-IN" dirty="0"/>
              <a:t>A. improve</a:t>
            </a:r>
          </a:p>
          <a:p>
            <a:pPr>
              <a:buNone/>
            </a:pPr>
            <a:r>
              <a:rPr lang="en-IN" dirty="0"/>
              <a:t>B. gain</a:t>
            </a:r>
          </a:p>
          <a:p>
            <a:pPr>
              <a:buNone/>
            </a:pPr>
            <a:r>
              <a:rPr lang="en-IN" dirty="0"/>
              <a:t>C. meet</a:t>
            </a:r>
          </a:p>
          <a:p>
            <a:pPr>
              <a:buNone/>
            </a:pPr>
            <a:r>
              <a:rPr lang="en-IN" dirty="0"/>
              <a:t>D. conduct</a:t>
            </a:r>
          </a:p>
        </p:txBody>
      </p:sp>
    </p:spTree>
    <p:extLst>
      <p:ext uri="{BB962C8B-B14F-4D97-AF65-F5344CB8AC3E}">
        <p14:creationId xmlns:p14="http://schemas.microsoft.com/office/powerpoint/2010/main" val="4283684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9FC25-31E9-4216-0245-972520922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2800"/>
              <a:t>Answer Key &amp; Explanations (1–10)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358A534-248A-5697-F638-9AC927484D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7512698"/>
              </p:ext>
            </p:extLst>
          </p:nvPr>
        </p:nvGraphicFramePr>
        <p:xfrm>
          <a:off x="4618374" y="2619347"/>
          <a:ext cx="6282924" cy="860168"/>
        </p:xfrm>
        <a:graphic>
          <a:graphicData uri="http://schemas.openxmlformats.org/drawingml/2006/table">
            <a:tbl>
              <a:tblPr firstRow="1" bandRow="1"/>
              <a:tblGrid>
                <a:gridCol w="1151235">
                  <a:extLst>
                    <a:ext uri="{9D8B030D-6E8A-4147-A177-3AD203B41FA5}">
                      <a16:colId xmlns:a16="http://schemas.microsoft.com/office/drawing/2014/main" val="3976887902"/>
                    </a:ext>
                  </a:extLst>
                </a:gridCol>
                <a:gridCol w="499593">
                  <a:extLst>
                    <a:ext uri="{9D8B030D-6E8A-4147-A177-3AD203B41FA5}">
                      <a16:colId xmlns:a16="http://schemas.microsoft.com/office/drawing/2014/main" val="2156387421"/>
                    </a:ext>
                  </a:extLst>
                </a:gridCol>
                <a:gridCol w="513169">
                  <a:extLst>
                    <a:ext uri="{9D8B030D-6E8A-4147-A177-3AD203B41FA5}">
                      <a16:colId xmlns:a16="http://schemas.microsoft.com/office/drawing/2014/main" val="2669157249"/>
                    </a:ext>
                  </a:extLst>
                </a:gridCol>
                <a:gridCol w="499593">
                  <a:extLst>
                    <a:ext uri="{9D8B030D-6E8A-4147-A177-3AD203B41FA5}">
                      <a16:colId xmlns:a16="http://schemas.microsoft.com/office/drawing/2014/main" val="1202510814"/>
                    </a:ext>
                  </a:extLst>
                </a:gridCol>
                <a:gridCol w="499593">
                  <a:extLst>
                    <a:ext uri="{9D8B030D-6E8A-4147-A177-3AD203B41FA5}">
                      <a16:colId xmlns:a16="http://schemas.microsoft.com/office/drawing/2014/main" val="2109989663"/>
                    </a:ext>
                  </a:extLst>
                </a:gridCol>
                <a:gridCol w="499593">
                  <a:extLst>
                    <a:ext uri="{9D8B030D-6E8A-4147-A177-3AD203B41FA5}">
                      <a16:colId xmlns:a16="http://schemas.microsoft.com/office/drawing/2014/main" val="1762561913"/>
                    </a:ext>
                  </a:extLst>
                </a:gridCol>
                <a:gridCol w="499593">
                  <a:extLst>
                    <a:ext uri="{9D8B030D-6E8A-4147-A177-3AD203B41FA5}">
                      <a16:colId xmlns:a16="http://schemas.microsoft.com/office/drawing/2014/main" val="3159884410"/>
                    </a:ext>
                  </a:extLst>
                </a:gridCol>
                <a:gridCol w="513169">
                  <a:extLst>
                    <a:ext uri="{9D8B030D-6E8A-4147-A177-3AD203B41FA5}">
                      <a16:colId xmlns:a16="http://schemas.microsoft.com/office/drawing/2014/main" val="2231907025"/>
                    </a:ext>
                  </a:extLst>
                </a:gridCol>
                <a:gridCol w="499593">
                  <a:extLst>
                    <a:ext uri="{9D8B030D-6E8A-4147-A177-3AD203B41FA5}">
                      <a16:colId xmlns:a16="http://schemas.microsoft.com/office/drawing/2014/main" val="2828464678"/>
                    </a:ext>
                  </a:extLst>
                </a:gridCol>
                <a:gridCol w="499593">
                  <a:extLst>
                    <a:ext uri="{9D8B030D-6E8A-4147-A177-3AD203B41FA5}">
                      <a16:colId xmlns:a16="http://schemas.microsoft.com/office/drawing/2014/main" val="801594091"/>
                    </a:ext>
                  </a:extLst>
                </a:gridCol>
                <a:gridCol w="608200">
                  <a:extLst>
                    <a:ext uri="{9D8B030D-6E8A-4147-A177-3AD203B41FA5}">
                      <a16:colId xmlns:a16="http://schemas.microsoft.com/office/drawing/2014/main" val="1274628379"/>
                    </a:ext>
                  </a:extLst>
                </a:gridCol>
              </a:tblGrid>
              <a:tr h="430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Q. No.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1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2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3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4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5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6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7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8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9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10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062853"/>
                  </a:ext>
                </a:extLst>
              </a:tr>
              <a:tr h="430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Answer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B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C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B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B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C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B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B</a:t>
                      </a:r>
                    </a:p>
                  </a:txBody>
                  <a:tcPr marL="97746" marR="97746" marT="48873" marB="48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533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8270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9E11EF-E500-4DD0-DBD3-9E0D4CE52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2800"/>
              <a:t>Answer Key &amp; Explanations (11–20)</a:t>
            </a:r>
            <a:br>
              <a:rPr lang="en-US" sz="2800"/>
            </a:br>
            <a:endParaRPr lang="en-US" sz="280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AED7F0-8ED8-B80B-C1A9-F219811933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9801784"/>
              </p:ext>
            </p:extLst>
          </p:nvPr>
        </p:nvGraphicFramePr>
        <p:xfrm>
          <a:off x="4618374" y="2675852"/>
          <a:ext cx="6282925" cy="747158"/>
        </p:xfrm>
        <a:graphic>
          <a:graphicData uri="http://schemas.openxmlformats.org/drawingml/2006/table">
            <a:tbl>
              <a:tblPr firstRow="1" bandRow="1"/>
              <a:tblGrid>
                <a:gridCol w="999985">
                  <a:extLst>
                    <a:ext uri="{9D8B030D-6E8A-4147-A177-3AD203B41FA5}">
                      <a16:colId xmlns:a16="http://schemas.microsoft.com/office/drawing/2014/main" val="1853339324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3700232011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174902049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3020839111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2782336459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2816845767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622137093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416890146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181458553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4180663800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667223878"/>
                    </a:ext>
                  </a:extLst>
                </a:gridCol>
              </a:tblGrid>
              <a:tr h="373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Q. No.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11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12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13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14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15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16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17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18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19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287965"/>
                  </a:ext>
                </a:extLst>
              </a:tr>
              <a:tr h="373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Answer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B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350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883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C02279-F334-F20C-7DAA-8E33D566B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2800"/>
              <a:t>Answer Key &amp; Explanations (21–30)</a:t>
            </a:r>
            <a:br>
              <a:rPr lang="en-US" sz="2800"/>
            </a:br>
            <a:endParaRPr lang="en-US" sz="280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D15B69A-A06A-DF6D-4B37-EAB40BE01B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2017892"/>
              </p:ext>
            </p:extLst>
          </p:nvPr>
        </p:nvGraphicFramePr>
        <p:xfrm>
          <a:off x="4618374" y="2675852"/>
          <a:ext cx="6282925" cy="747158"/>
        </p:xfrm>
        <a:graphic>
          <a:graphicData uri="http://schemas.openxmlformats.org/drawingml/2006/table">
            <a:tbl>
              <a:tblPr firstRow="1" bandRow="1"/>
              <a:tblGrid>
                <a:gridCol w="999985">
                  <a:extLst>
                    <a:ext uri="{9D8B030D-6E8A-4147-A177-3AD203B41FA5}">
                      <a16:colId xmlns:a16="http://schemas.microsoft.com/office/drawing/2014/main" val="2199552782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3088529000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1546782892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1313928512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2032978012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2970771090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1688175718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786388433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1378866084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2409799145"/>
                    </a:ext>
                  </a:extLst>
                </a:gridCol>
                <a:gridCol w="528294">
                  <a:extLst>
                    <a:ext uri="{9D8B030D-6E8A-4147-A177-3AD203B41FA5}">
                      <a16:colId xmlns:a16="http://schemas.microsoft.com/office/drawing/2014/main" val="3031529738"/>
                    </a:ext>
                  </a:extLst>
                </a:gridCol>
              </a:tblGrid>
              <a:tr h="373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Q. No.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21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22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23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24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25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26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27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28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29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30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551231"/>
                  </a:ext>
                </a:extLst>
              </a:tr>
              <a:tr h="373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Answer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B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B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</a:t>
                      </a:r>
                    </a:p>
                  </a:txBody>
                  <a:tcPr marL="84904" marR="84904" marT="42452" marB="424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31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5844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3DE67-2564-9F36-D7FB-4D99A270A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PLACEMENT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938F6-477B-D435-3984-060DE823D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968" y="1894750"/>
            <a:ext cx="4331368" cy="4199726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Situation</a:t>
            </a:r>
          </a:p>
          <a:p>
            <a:r>
              <a:rPr lang="en-IN" dirty="0"/>
              <a:t>You are appearing for a campus placement interview.</a:t>
            </a:r>
          </a:p>
          <a:p>
            <a:r>
              <a:rPr lang="en-IN" b="1" dirty="0"/>
              <a:t>Question</a:t>
            </a:r>
          </a:p>
          <a:p>
            <a:r>
              <a:rPr lang="en-IN" dirty="0"/>
              <a:t>"Describe a project that you completed during your degree."</a:t>
            </a:r>
          </a:p>
          <a:p>
            <a:r>
              <a:rPr lang="en-IN" b="1" dirty="0"/>
              <a:t>Instructions</a:t>
            </a:r>
          </a:p>
          <a:p>
            <a:r>
              <a:rPr lang="en-IN" dirty="0"/>
              <a:t>Use at least five collocations from the list below:</a:t>
            </a:r>
          </a:p>
          <a:p>
            <a:r>
              <a:rPr lang="en-IN" dirty="0"/>
              <a:t>• Conduct research</a:t>
            </a:r>
          </a:p>
          <a:p>
            <a:r>
              <a:rPr lang="en-IN" dirty="0"/>
              <a:t>• </a:t>
            </a:r>
            <a:r>
              <a:rPr lang="en-IN" dirty="0" err="1"/>
              <a:t>Analyze</a:t>
            </a:r>
            <a:r>
              <a:rPr lang="en-IN" dirty="0"/>
              <a:t> data</a:t>
            </a:r>
          </a:p>
          <a:p>
            <a:r>
              <a:rPr lang="en-IN" dirty="0"/>
              <a:t>• Develop solutions</a:t>
            </a:r>
          </a:p>
          <a:p>
            <a:r>
              <a:rPr lang="en-IN" dirty="0"/>
              <a:t>• Meet deadlines</a:t>
            </a:r>
          </a:p>
          <a:p>
            <a:r>
              <a:rPr lang="en-IN" dirty="0"/>
              <a:t>• Deliver results</a:t>
            </a:r>
          </a:p>
          <a:p>
            <a:r>
              <a:rPr lang="en-IN" dirty="0"/>
              <a:t>• Improve performance</a:t>
            </a:r>
          </a:p>
          <a:p>
            <a:r>
              <a:rPr lang="en-IN" dirty="0"/>
              <a:t>• Achieve objectives</a:t>
            </a:r>
          </a:p>
          <a:p>
            <a:r>
              <a:rPr lang="en-IN" dirty="0"/>
              <a:t>• Gain experience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86E24E-48AD-656D-8D4F-F6CBDEF76809}"/>
              </a:ext>
            </a:extLst>
          </p:cNvPr>
          <p:cNvSpPr txBox="1"/>
          <p:nvPr/>
        </p:nvSpPr>
        <p:spPr>
          <a:xfrm>
            <a:off x="4950834" y="2059212"/>
            <a:ext cx="61040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Sample Response</a:t>
            </a:r>
          </a:p>
          <a:p>
            <a:pPr>
              <a:buNone/>
            </a:pPr>
            <a:r>
              <a:rPr lang="en-IN" dirty="0"/>
              <a:t>"During my final-year project, I conducted research on machine learning applications. My team </a:t>
            </a:r>
            <a:r>
              <a:rPr lang="en-IN" dirty="0" err="1"/>
              <a:t>analyzed</a:t>
            </a:r>
            <a:r>
              <a:rPr lang="en-IN" dirty="0"/>
              <a:t> data from various sources and developed innovative solutions. We successfully met all deadlines and delivered positive results. This experience helped me gain practical knowledge and achieve project objectives."</a:t>
            </a:r>
          </a:p>
          <a:p>
            <a:pPr>
              <a:buNone/>
            </a:pPr>
            <a:r>
              <a:rPr lang="en-IN" b="1" dirty="0"/>
              <a:t>Discussion Questions</a:t>
            </a:r>
          </a:p>
          <a:p>
            <a:pPr>
              <a:buFont typeface="+mj-lt"/>
              <a:buAutoNum type="arabicPeriod"/>
            </a:pPr>
            <a:r>
              <a:rPr lang="en-IN" dirty="0"/>
              <a:t>Which collocations did you use?</a:t>
            </a:r>
          </a:p>
          <a:p>
            <a:pPr>
              <a:buFont typeface="+mj-lt"/>
              <a:buAutoNum type="arabicPeriod"/>
            </a:pPr>
            <a:r>
              <a:rPr lang="en-IN" dirty="0"/>
              <a:t>How can they improve interview responses?</a:t>
            </a:r>
          </a:p>
          <a:p>
            <a:pPr>
              <a:buFont typeface="+mj-lt"/>
              <a:buAutoNum type="arabicPeriod"/>
            </a:pPr>
            <a:r>
              <a:rPr lang="en-IN" dirty="0"/>
              <a:t>Which collocations are commonly used in the workplace?</a:t>
            </a:r>
          </a:p>
        </p:txBody>
      </p:sp>
    </p:spTree>
    <p:extLst>
      <p:ext uri="{BB962C8B-B14F-4D97-AF65-F5344CB8AC3E}">
        <p14:creationId xmlns:p14="http://schemas.microsoft.com/office/powerpoint/2010/main" val="3565741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565B2-9422-234B-9871-802D0F398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&amp;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279AB-073C-D2F2-2F5C-77E8EFC25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Session Summary</a:t>
            </a:r>
          </a:p>
          <a:p>
            <a:r>
              <a:rPr lang="en-IN" dirty="0"/>
              <a:t>Today we learned:</a:t>
            </a:r>
          </a:p>
          <a:p>
            <a:r>
              <a:rPr lang="en-IN" dirty="0"/>
              <a:t>✓ Importance of word choice.</a:t>
            </a:r>
          </a:p>
          <a:p>
            <a:r>
              <a:rPr lang="en-IN" dirty="0"/>
              <a:t>✓ Meaning and use of collocations.</a:t>
            </a:r>
          </a:p>
          <a:p>
            <a:r>
              <a:rPr lang="en-IN" dirty="0"/>
              <a:t>✓ Common professional collocations.</a:t>
            </a:r>
          </a:p>
          <a:p>
            <a:r>
              <a:rPr lang="en-IN" dirty="0"/>
              <a:t>✓ Frequently tested AMCAT patterns.</a:t>
            </a:r>
          </a:p>
          <a:p>
            <a:r>
              <a:rPr lang="en-IN" dirty="0"/>
              <a:t>✓ Interview and workplace vocabulary.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555320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{CE30146D-743A-48BC-BB37-56C171086FC4}TFc986dd65-aaf0-4d5c-bef9-9c391ee05f7b738e0fce-4a319d133af4</Template>
  <TotalTime>33</TotalTime>
  <Words>1303</Words>
  <Application>Microsoft Office PowerPoint</Application>
  <PresentationFormat>Widescreen</PresentationFormat>
  <Paragraphs>359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Gill Sans MT</vt:lpstr>
      <vt:lpstr>Gallery</vt:lpstr>
      <vt:lpstr>WORD CHOICE AND COLLOCATIONS</vt:lpstr>
      <vt:lpstr>OBJECTIVES &amp; LEARNING OUTCOMES Learning Objectives</vt:lpstr>
      <vt:lpstr>Learning Outcomes </vt:lpstr>
      <vt:lpstr>WORD CHOICE </vt:lpstr>
      <vt:lpstr>Examples</vt:lpstr>
      <vt:lpstr>COLLOCATIONS</vt:lpstr>
      <vt:lpstr>COMMON PROFESSIONAL COLLOCATIONS</vt:lpstr>
      <vt:lpstr>SLIDE 7: PLACEMENT TIPS &amp; AMCAT STRATEGY</vt:lpstr>
      <vt:lpstr>COMMON WORD CHOICE ERRORS</vt:lpstr>
      <vt:lpstr>MCQ</vt:lpstr>
      <vt:lpstr>MCQ</vt:lpstr>
      <vt:lpstr>MCQ</vt:lpstr>
      <vt:lpstr>Answer Key &amp; Explanations (1–10)</vt:lpstr>
      <vt:lpstr>Answer Key &amp; Explanations (11–20) </vt:lpstr>
      <vt:lpstr>Answer Key &amp; Explanations (21–30) </vt:lpstr>
      <vt:lpstr>PLACEMENT ACTIVITY</vt:lpstr>
      <vt:lpstr>SUMMARY &amp; 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 Suniyal</dc:creator>
  <cp:lastModifiedBy>Anil Suniyal</cp:lastModifiedBy>
  <cp:revision>1</cp:revision>
  <dcterms:created xsi:type="dcterms:W3CDTF">2026-06-02T10:52:01Z</dcterms:created>
  <dcterms:modified xsi:type="dcterms:W3CDTF">2026-06-02T11:25:03Z</dcterms:modified>
</cp:coreProperties>
</file>